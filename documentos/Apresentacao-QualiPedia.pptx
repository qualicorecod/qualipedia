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663440" y="1874519"/>
            <a:ext cx="2107691" cy="292608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2563EB"/>
                </a:solidFill>
                <a:latin typeface="Inter"/>
              </a:rPr>
              <a:t>PROJETO PESSOAL — QUALIDADE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111827"/>
                </a:solidFill>
                <a:latin typeface="Inter"/>
              </a:rPr>
              <a:t>QualiPédia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563EB"/>
                </a:solidFill>
                <a:latin typeface="Inter"/>
              </a:rPr>
              <a:t>A enciclopédia pessoal da qualidade — minha cola de consulta rápida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06908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Inter"/>
              </a:rPr>
              <a:t>Um hub privado para aplicar gestão da qualidade em qualquer empresa,</a:t>
            </a:r>
          </a:p>
          <a:p>
            <a:pPr algn="ctr"/>
            <a:r>
              <a:rPr sz="1400" b="0">
                <a:solidFill>
                  <a:srgbClr val="6B7280"/>
                </a:solidFill>
                <a:latin typeface="Inter"/>
              </a:rPr>
              <a:t>setor ou momento da carreira.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Inter"/>
              </a:rPr>
              <a:t>Bruna Silva Ramos Sousa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Inter"/>
              </a:rPr>
              <a:t>01 · 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Inter"/>
              </a:rPr>
              <a:t>Por que a QualiPédia existe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822960" cy="54864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6B7280"/>
                </a:solidFill>
                <a:latin typeface="Inter"/>
              </a:rPr>
              <a:t>•  Qualidade não pertence a uma empresa: pertence ao profissional que sabe aplicá-la.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6B7280"/>
                </a:solidFill>
                <a:latin typeface="Inter"/>
              </a:rPr>
              <a:t>•  Em transição de área ou de empresa, o desafio é sempre o mesmo: como aplicar qualidade aqui?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6B7280"/>
                </a:solidFill>
                <a:latin typeface="Inter"/>
              </a:rPr>
              <a:t>•  Eu precisava de um lugar único com: o que sei, o que já construí e qual ferramenta usar em cada situação.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6B7280"/>
                </a:solidFill>
                <a:latin typeface="Inter"/>
              </a:rPr>
              <a:t>•  A QualiPédia é esse lugar: uma enciclopédia viva, privada e acessível de qualquer lugar.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6B7280"/>
                </a:solidFill>
                <a:latin typeface="Inter"/>
              </a:rPr>
              <a:t>•  Ela me acompanha no atendimento, na indústria, em processos, em pessoas — onde a qualidade for exigida.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Inter"/>
              </a:rPr>
              <a:t>02 · O PRODUTO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Inter"/>
              </a:rPr>
              <a:t>O que é a QualiPédia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822960" cy="54864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3492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19" y="2148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Inter"/>
              </a:rPr>
              <a:t>Hub privado com 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26974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Inter"/>
              </a:rPr>
              <a:t>Conteúdo profissional e pessoal em um só lugar, protegido por autenticação.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20240"/>
            <a:ext cx="53492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48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Inter"/>
              </a:rPr>
              <a:t>Busca rápida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6974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Inter"/>
              </a:rPr>
              <a:t>Digite 'ishikawa' ou 'por onde começo' e encontre a ficha na hora.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53492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19" y="4160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Inter"/>
              </a:rPr>
              <a:t>Enciclopédia viva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19" y="4709159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Inter"/>
              </a:rPr>
              <a:t>Cada tema tem ficha padrão: conceito, como aplicar, exemplos e onde já usei.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931920"/>
            <a:ext cx="53492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160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Inter"/>
              </a:rPr>
              <a:t>Alimentação contínua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709159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Inter"/>
              </a:rPr>
              <a:t>Novos temas entram fácil: anotação, foto do caderno, resumo de aula ou áudio.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Inter"/>
              </a:rPr>
              <a:t>03 · ESTRUTURA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Inter"/>
              </a:rPr>
              <a:t>Cinco seções, um sistema de conhecimento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822960" cy="54864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Inter"/>
              </a:rPr>
              <a:t>1 · Hub inicial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76856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Busca rápida sobre todos os temas e atalhos visuais.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1487"/>
            <a:ext cx="1088136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52927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Inter"/>
              </a:rPr>
              <a:t>2 · Qual ferramenta usar?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6382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Guia de decisão por situação-problema: chega com um problema, sai com a ferramenta.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48455"/>
            <a:ext cx="1088136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39895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Inter"/>
              </a:rPr>
              <a:t>3 · Enciclopédia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50791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Fichas de temas: PDCA, ISO 9001, Ishikawa, 5W2H, Pareto, FMEA, 8D, Six Sigma e mais.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35423"/>
            <a:ext cx="1088136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26863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Inter"/>
              </a:rPr>
              <a:t>4 · Acervo pessoal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37759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O que construí: metodologia QA/IEPC, não conformidades, manuais, planilhas, indicadores.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22391"/>
            <a:ext cx="1088136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513831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Inter"/>
              </a:rPr>
              <a:t>5 · Formulário de novos temas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824727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Alimentar a base sem depender de layout ou programação.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Inter"/>
              </a:rPr>
              <a:t>04 · FORMATO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Inter"/>
              </a:rPr>
              <a:t>Ficha padrão: teoria ligada à prática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822960" cy="54864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2624328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Inter"/>
              </a:rPr>
              <a:t>Conceito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260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O que é, em linguagem direta — resumo em palavras que eu entendo.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2103120"/>
            <a:ext cx="2624328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0168" y="2331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Inter"/>
              </a:rPr>
              <a:t>Como aplicar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0168" y="29260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Passo a passo prático: o que fazer primeiro, o que evitar.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2103120"/>
            <a:ext cx="2624328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1656" y="2331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Inter"/>
              </a:rPr>
              <a:t>Exemplos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656" y="29260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Casos de uso reais em atendimento, indústria e processos.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24544" y="2103120"/>
            <a:ext cx="2624328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53144" y="2331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Inter"/>
              </a:rPr>
              <a:t>Onde já usei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53144" y="29260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Minha aplicação real — a memória da minha experiência.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Inter"/>
              </a:rPr>
              <a:t>O diferencial: cada ferramenta conecta a teoria da gestão da qualidade à minha prática documentada — com resultados reais.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Inter"/>
              </a:rPr>
              <a:t>05 · GUIA DE DECISÃO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Inter"/>
              </a:rPr>
              <a:t>"Qual ferramenta usar?" — chega com o problema, sai com o plano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822960" cy="54864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088136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48256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11827"/>
                </a:solidFill>
                <a:latin typeface="Inter"/>
              </a:rPr>
              <a:t>→  Processo desorganizado, ninguém sabe como é de verdade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204825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50" b="1">
                <a:solidFill>
                  <a:srgbClr val="2563EB"/>
                </a:solidFill>
                <a:latin typeface="Inter"/>
              </a:rPr>
              <a:t>Fluxograma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79192"/>
            <a:ext cx="1088136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07208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11827"/>
                </a:solidFill>
                <a:latin typeface="Inter"/>
              </a:rPr>
              <a:t>→  Muitos problemas, não sei por onde começar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280720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50" b="1">
                <a:solidFill>
                  <a:srgbClr val="2563EB"/>
                </a:solidFill>
                <a:latin typeface="Inter"/>
              </a:rPr>
              <a:t>Pareto + Matriz GUT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38144"/>
            <a:ext cx="1088136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6616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11827"/>
                </a:solidFill>
                <a:latin typeface="Inter"/>
              </a:rPr>
              <a:t>→  O mesmo erro sempre se repete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3566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50" b="1">
                <a:solidFill>
                  <a:srgbClr val="2563EB"/>
                </a:solidFill>
                <a:latin typeface="Inter"/>
              </a:rPr>
              <a:t>5 Porquês, Ishikawa, 8D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97096"/>
            <a:ext cx="1088136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25112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11827"/>
                </a:solidFill>
                <a:latin typeface="Inter"/>
              </a:rPr>
              <a:t>→  Preciso medir um processo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43251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50" b="1">
                <a:solidFill>
                  <a:srgbClr val="2563EB"/>
                </a:solidFill>
                <a:latin typeface="Inter"/>
              </a:rPr>
              <a:t>MSA/R&amp;R, depois Carta de Controle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956048"/>
            <a:ext cx="1088136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84064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11827"/>
                </a:solidFill>
                <a:latin typeface="Inter"/>
              </a:rPr>
              <a:t>→  Cliente insatisfeito, não sei o que importa para ele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508406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50" b="1">
                <a:solidFill>
                  <a:srgbClr val="2563EB"/>
                </a:solidFill>
                <a:latin typeface="Inter"/>
              </a:rPr>
              <a:t>QFD + indicador de percepção (IEPC)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715000"/>
            <a:ext cx="1088136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843016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11827"/>
                </a:solidFill>
                <a:latin typeface="Inter"/>
              </a:rPr>
              <a:t>→  Não confio nas notas de avaliação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584301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50" b="1">
                <a:solidFill>
                  <a:srgbClr val="2563EB"/>
                </a:solidFill>
                <a:latin typeface="Inter"/>
              </a:rPr>
              <a:t>Calibragem avaliativa + folha de verificação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Inter"/>
              </a:rPr>
              <a:t>06 · ACERVO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Inter"/>
              </a:rPr>
              <a:t>A metodologia que construí — documentada no acervo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822960" cy="54864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52044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Inter"/>
              </a:rPr>
              <a:t>QA — Qualidade do Atendimento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3063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50">
                <a:solidFill>
                  <a:srgbClr val="6B7280"/>
                </a:solidFill>
                <a:latin typeface="Inter"/>
              </a:rPr>
              <a:t>•  5 pilares · 100 pts</a:t>
            </a:r>
          </a:p>
          <a:p>
            <a:pPr>
              <a:spcAft>
                <a:spcPts val="900"/>
              </a:spcAft>
            </a:pPr>
            <a:r>
              <a:rPr sz="1150">
                <a:solidFill>
                  <a:srgbClr val="6B7280"/>
                </a:solidFill>
                <a:latin typeface="Inter"/>
              </a:rPr>
              <a:t>•  Fluxo e rastreabilidade (22)</a:t>
            </a:r>
          </a:p>
          <a:p>
            <a:pPr>
              <a:spcAft>
                <a:spcPts val="900"/>
              </a:spcAft>
            </a:pPr>
            <a:r>
              <a:rPr sz="1150">
                <a:solidFill>
                  <a:srgbClr val="6B7280"/>
                </a:solidFill>
                <a:latin typeface="Inter"/>
              </a:rPr>
              <a:t>•  Tratativa da demanda (34)</a:t>
            </a:r>
          </a:p>
          <a:p>
            <a:pPr>
              <a:spcAft>
                <a:spcPts val="900"/>
              </a:spcAft>
            </a:pPr>
            <a:r>
              <a:rPr sz="1150">
                <a:solidFill>
                  <a:srgbClr val="6B7280"/>
                </a:solidFill>
                <a:latin typeface="Inter"/>
              </a:rPr>
              <a:t>•  Assertividade técnica (18)</a:t>
            </a:r>
          </a:p>
          <a:p>
            <a:pPr>
              <a:spcAft>
                <a:spcPts val="900"/>
              </a:spcAft>
            </a:pPr>
            <a:r>
              <a:rPr sz="1150">
                <a:solidFill>
                  <a:srgbClr val="6B7280"/>
                </a:solidFill>
                <a:latin typeface="Inter"/>
              </a:rPr>
              <a:t>•  Comunicação (14)</a:t>
            </a:r>
          </a:p>
          <a:p>
            <a:pPr>
              <a:spcAft>
                <a:spcPts val="900"/>
              </a:spcAft>
            </a:pPr>
            <a:r>
              <a:rPr sz="1150">
                <a:solidFill>
                  <a:srgbClr val="6B7280"/>
                </a:solidFill>
                <a:latin typeface="Inter"/>
              </a:rPr>
              <a:t>•  Conduta relacional (12)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20240"/>
            <a:ext cx="352044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4884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5803D"/>
                </a:solidFill>
                <a:latin typeface="Inter"/>
              </a:rPr>
              <a:t>IEPC — Experiência do Cliente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97480"/>
            <a:ext cx="3063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50">
                <a:solidFill>
                  <a:srgbClr val="6B7280"/>
                </a:solidFill>
                <a:latin typeface="Inter"/>
              </a:rPr>
              <a:t>•  5 dimensões · 100 pts</a:t>
            </a:r>
          </a:p>
          <a:p>
            <a:pPr>
              <a:spcAft>
                <a:spcPts val="900"/>
              </a:spcAft>
            </a:pPr>
            <a:r>
              <a:rPr sz="1150">
                <a:solidFill>
                  <a:srgbClr val="6B7280"/>
                </a:solidFill>
                <a:latin typeface="Inter"/>
              </a:rPr>
              <a:t>•  Resolução percebida (30)</a:t>
            </a:r>
          </a:p>
          <a:p>
            <a:pPr>
              <a:spcAft>
                <a:spcPts val="900"/>
              </a:spcAft>
            </a:pPr>
            <a:r>
              <a:rPr sz="1150">
                <a:solidFill>
                  <a:srgbClr val="6B7280"/>
                </a:solidFill>
                <a:latin typeface="Inter"/>
              </a:rPr>
              <a:t>•  Compreensão e segurança (20)</a:t>
            </a:r>
          </a:p>
          <a:p>
            <a:pPr>
              <a:spcAft>
                <a:spcPts val="900"/>
              </a:spcAft>
            </a:pPr>
            <a:r>
              <a:rPr sz="1150">
                <a:solidFill>
                  <a:srgbClr val="6B7280"/>
                </a:solidFill>
                <a:latin typeface="Inter"/>
              </a:rPr>
              <a:t>•  Esforço do cliente (20)</a:t>
            </a:r>
          </a:p>
          <a:p>
            <a:pPr>
              <a:spcAft>
                <a:spcPts val="900"/>
              </a:spcAft>
            </a:pPr>
            <a:r>
              <a:rPr sz="1150">
                <a:solidFill>
                  <a:srgbClr val="6B7280"/>
                </a:solidFill>
                <a:latin typeface="Inter"/>
              </a:rPr>
              <a:t>•  Tempo e fluidez (15)</a:t>
            </a:r>
          </a:p>
          <a:p>
            <a:pPr>
              <a:spcAft>
                <a:spcPts val="900"/>
              </a:spcAft>
            </a:pPr>
            <a:r>
              <a:rPr sz="1150">
                <a:solidFill>
                  <a:srgbClr val="6B7280"/>
                </a:solidFill>
                <a:latin typeface="Inter"/>
              </a:rPr>
              <a:t>•  Experiência relacional (15)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920240"/>
            <a:ext cx="347472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2148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Inter"/>
              </a:rPr>
              <a:t>Não Conformidades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69748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50">
                <a:solidFill>
                  <a:srgbClr val="6B7280"/>
                </a:solidFill>
                <a:latin typeface="Inter"/>
              </a:rPr>
              <a:t>•  5 categorias · -20 pts</a:t>
            </a:r>
          </a:p>
          <a:p>
            <a:pPr>
              <a:spcAft>
                <a:spcPts val="900"/>
              </a:spcAft>
            </a:pPr>
            <a:r>
              <a:rPr sz="1150">
                <a:solidFill>
                  <a:srgbClr val="6B7280"/>
                </a:solidFill>
                <a:latin typeface="Inter"/>
              </a:rPr>
              <a:t>•  Identificar → tratar → prevenir</a:t>
            </a:r>
          </a:p>
          <a:p>
            <a:pPr>
              <a:spcAft>
                <a:spcPts val="900"/>
              </a:spcAft>
            </a:pPr>
            <a:r>
              <a:rPr sz="1150">
                <a:solidFill>
                  <a:srgbClr val="6B7280"/>
                </a:solidFill>
                <a:latin typeface="Inter"/>
              </a:rPr>
              <a:t>•  Postura e ética</a:t>
            </a:r>
          </a:p>
          <a:p>
            <a:pPr>
              <a:spcAft>
                <a:spcPts val="900"/>
              </a:spcAft>
            </a:pPr>
            <a:r>
              <a:rPr sz="1150">
                <a:solidFill>
                  <a:srgbClr val="6B7280"/>
                </a:solidFill>
                <a:latin typeface="Inter"/>
              </a:rPr>
              <a:t>•  Rigor técnico e registro</a:t>
            </a:r>
          </a:p>
          <a:p>
            <a:pPr>
              <a:spcAft>
                <a:spcPts val="900"/>
              </a:spcAft>
            </a:pPr>
            <a:r>
              <a:rPr sz="1150">
                <a:solidFill>
                  <a:srgbClr val="6B7280"/>
                </a:solidFill>
                <a:latin typeface="Inter"/>
              </a:rPr>
              <a:t>•  Integridade e segurança da informação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150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Manual próprio alinhado à ISO 9001:2015 · avaliação manual, sem IA, com evidência objetiva e calibragem.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Inter"/>
              </a:rPr>
              <a:t>07 ·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Inter"/>
              </a:rPr>
              <a:t>A QualiPédia nasce de prática com resultados comprovados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822960" cy="54864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29184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11827"/>
                </a:solidFill>
                <a:latin typeface="Inter"/>
              </a:rPr>
              <a:t>175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803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avaliações de qualidade realizadas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4528" y="2011680"/>
            <a:ext cx="329184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22402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5803D"/>
                </a:solidFill>
                <a:latin typeface="Inter"/>
              </a:rPr>
              <a:t>75,0 → 83,8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3128" y="28803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evolução da nota média de QA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08975" y="2011680"/>
            <a:ext cx="329184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37575" y="22402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5803D"/>
                </a:solidFill>
                <a:latin typeface="Inter"/>
              </a:rPr>
              <a:t>76,8 → 85,0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7575" y="28803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evolução do índice IEPC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86200"/>
            <a:ext cx="329184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1148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11827"/>
                </a:solidFill>
                <a:latin typeface="Inter"/>
              </a:rPr>
              <a:t>119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7548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não conformidades tratadas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24528" y="3886200"/>
            <a:ext cx="329184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41148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11827"/>
                </a:solidFill>
                <a:latin typeface="Inter"/>
              </a:rPr>
              <a:t>112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47548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elogios de clientes registrados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08975" y="3886200"/>
            <a:ext cx="329184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37575" y="41148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11827"/>
                </a:solidFill>
                <a:latin typeface="Inter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37575" y="47548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ciclos consolidados em relatórios executivos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Inter"/>
              </a:rPr>
              <a:t>08 · OPERAÇÃO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Inter"/>
              </a:rPr>
              <a:t>Um sistema que cresce comigo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822960" cy="54864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1088136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Inter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21284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Inter"/>
              </a:rPr>
              <a:t>Aula, leitura ou prática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79"/>
            <a:ext cx="1088136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3580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Inter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03580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Inter"/>
              </a:rPr>
              <a:t>Registro fácil (anotação, foto, áudio)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49039"/>
            <a:ext cx="1088136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85876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Inter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85876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Inter"/>
              </a:rPr>
              <a:t>Ficha estruturada na enciclopédia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72000"/>
            <a:ext cx="1088136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817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Inter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68172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Inter"/>
              </a:rPr>
              <a:t>Consulta rápida na hora de aplicar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94960"/>
            <a:ext cx="1088136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5046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Inter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50468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Inter"/>
              </a:rPr>
              <a:t>Nova aplicação real vira experiência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11827"/>
                </a:solidFill>
                <a:latin typeface="Inter"/>
              </a:rPr>
              <a:t>QualiPédia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3832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563EB"/>
                </a:solidFill>
                <a:latin typeface="Inter"/>
              </a:rPr>
              <a:t>Conhecimento de qualidade que viaja comigo:</a:t>
            </a:r>
          </a:p>
          <a:p>
            <a:pPr algn="ctr"/>
            <a:r>
              <a:rPr sz="1700" b="1">
                <a:solidFill>
                  <a:srgbClr val="2563EB"/>
                </a:solidFill>
                <a:latin typeface="Inter"/>
              </a:rPr>
              <a:t>qualquer empresa, qualquer setor, qualquer desafio.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Inter"/>
              </a:rPr>
              <a:t>Bruna Silva Ramos Sousa · brunaramos1807@gmail.com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